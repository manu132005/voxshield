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image" Target="../media/image22.png"/><Relationship Id="rId21" Type="http://schemas.openxmlformats.org/officeDocument/2006/relationships/image" Target="../media/image23.png"/><Relationship Id="rId22" Type="http://schemas.openxmlformats.org/officeDocument/2006/relationships/image" Target="../media/image24.png"/><Relationship Id="rId2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6.png"/><Relationship Id="rId4" Type="http://schemas.openxmlformats.org/officeDocument/2006/relationships/image" Target="../media/image5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Relationship Id="rId22" Type="http://schemas.openxmlformats.org/officeDocument/2006/relationships/image" Target="../media/image44.png"/><Relationship Id="rId23" Type="http://schemas.openxmlformats.org/officeDocument/2006/relationships/image" Target="../media/image45.png"/><Relationship Id="rId24" Type="http://schemas.openxmlformats.org/officeDocument/2006/relationships/image" Target="../media/image46.png"/><Relationship Id="rId25" Type="http://schemas.openxmlformats.org/officeDocument/2006/relationships/image" Target="../media/image47.png"/><Relationship Id="rId26" Type="http://schemas.openxmlformats.org/officeDocument/2006/relationships/image" Target="../media/image48.png"/><Relationship Id="rId27" Type="http://schemas.openxmlformats.org/officeDocument/2006/relationships/image" Target="../media/image49.png"/><Relationship Id="rId28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0.png"/><Relationship Id="rId4" Type="http://schemas.openxmlformats.org/officeDocument/2006/relationships/image" Target="../media/image5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Relationship Id="rId13" Type="http://schemas.openxmlformats.org/officeDocument/2006/relationships/image" Target="../media/image59.png"/><Relationship Id="rId14" Type="http://schemas.openxmlformats.org/officeDocument/2006/relationships/image" Target="../media/image60.png"/><Relationship Id="rId15" Type="http://schemas.openxmlformats.org/officeDocument/2006/relationships/image" Target="../media/image61.png"/><Relationship Id="rId16" Type="http://schemas.openxmlformats.org/officeDocument/2006/relationships/image" Target="../media/image62.png"/><Relationship Id="rId17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3.png"/><Relationship Id="rId4" Type="http://schemas.openxmlformats.org/officeDocument/2006/relationships/image" Target="../media/image5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Relationship Id="rId14" Type="http://schemas.openxmlformats.org/officeDocument/2006/relationships/image" Target="../media/image73.png"/><Relationship Id="rId15" Type="http://schemas.openxmlformats.org/officeDocument/2006/relationships/image" Target="../media/image74.png"/><Relationship Id="rId16" Type="http://schemas.openxmlformats.org/officeDocument/2006/relationships/image" Target="../media/image75.png"/><Relationship Id="rId17" Type="http://schemas.openxmlformats.org/officeDocument/2006/relationships/image" Target="../media/image76.png"/><Relationship Id="rId18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33500"/>
            <a:ext cx="5524500" cy="495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81000"/>
            <a:ext cx="1219200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0" i="0" u="none">
                <a:solidFill>
                  <a:srgbClr val="1E3A8A"/>
                </a:solidFill>
                <a:latin typeface="Inter ExtraBold"/>
              </a:rP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47750"/>
            <a:ext cx="12192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000000"/>
                </a:solidFill>
                <a:latin typeface="Inter ExtraBold"/>
              </a:rPr>
              <a:t>TITLE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00250"/>
            <a:ext cx="552450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4155"/>
                </a:solidFill>
                <a:latin typeface="Inter"/>
              </a:rPr>
              <a:t>• Problem Statement ID – SIH1234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657475"/>
            <a:ext cx="5524500" cy="628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4155"/>
                </a:solidFill>
                <a:latin typeface="Inter"/>
              </a:rPr>
              <a:t>• Problem Statement Title- Advanced Voice Spoofing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514725"/>
            <a:ext cx="552450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4155"/>
                </a:solidFill>
                <a:latin typeface="Inter"/>
              </a:rPr>
              <a:t>• Theme- Cybersecurity / Information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171950"/>
            <a:ext cx="552450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4155"/>
                </a:solidFill>
                <a:latin typeface="Inter"/>
              </a:rPr>
              <a:t>• PS Category-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829175"/>
            <a:ext cx="552450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4155"/>
                </a:solidFill>
                <a:latin typeface="Inter"/>
              </a:rPr>
              <a:t>• Team ID- TM-98765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486400"/>
            <a:ext cx="5524500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334155"/>
                </a:solidFill>
                <a:latin typeface="Inter"/>
              </a:rPr>
              <a:t>VOXSHIELD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2631A2-072B-58DE-31B9-CBCB37413F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7415330" y="1831563"/>
            <a:ext cx="3203509" cy="342623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CC17A26-83D3-1FAD-F198-29CC21740B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3608" y="147338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19087"/>
            <a:ext cx="1743075" cy="504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43000"/>
            <a:ext cx="3371850" cy="2400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3350" y="1143000"/>
            <a:ext cx="7867650" cy="2400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200525"/>
            <a:ext cx="2750343" cy="914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4218" y="4200525"/>
            <a:ext cx="2750343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7437" y="4200525"/>
            <a:ext cx="2750343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0656" y="4200525"/>
            <a:ext cx="2750343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3350" y="5915025"/>
            <a:ext cx="7867650" cy="7524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350" y="4333875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7568" y="4333875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0787" y="4333875"/>
            <a:ext cx="2286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94006" y="4333875"/>
            <a:ext cx="228600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91425" y="2609850"/>
            <a:ext cx="571500" cy="571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1000" y="3714750"/>
            <a:ext cx="1181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1" u="none">
                <a:solidFill>
                  <a:srgbClr val="991B1B"/>
                </a:solidFill>
                <a:latin typeface="Inter"/>
              </a:rPr>
              <a:t>CORE CAPABILITIES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000" y="6586537"/>
            <a:ext cx="2181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 SemiBold"/>
              </a:rPr>
              <a:t>@SIH Idea submission- Template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25275" y="6586537"/>
            <a:ext cx="857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9637" y="190500"/>
            <a:ext cx="22574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Inter ExtraBold"/>
              </a:rPr>
              <a:t>IDEA TITLE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6187" y="714375"/>
            <a:ext cx="41243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AI-Powered Voice Security &amp; Decision Intelligence Engine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2625" y="238125"/>
            <a:ext cx="819150" cy="6667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34650" y="257175"/>
            <a:ext cx="12763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500" b="0" i="0" u="none">
                <a:solidFill>
                  <a:srgbClr val="334155"/>
                </a:solidFill>
                <a:latin typeface="Inter ExtraBold"/>
              </a:rPr>
              <a:t>SMART INDIA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 ExtraBold"/>
              </a:rPr>
              <a:t> HACKATHON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 ExtraBold"/>
              </a:rPr>
              <a:t>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98591" y="819150"/>
            <a:ext cx="3299517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2450" y="1314450"/>
            <a:ext cx="30289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 ExtraBold"/>
              </a:rPr>
              <a:t>THE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450" y="1485900"/>
            <a:ext cx="3028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0F172A"/>
                </a:solidFill>
                <a:latin typeface="Inter SemiBold"/>
              </a:rPr>
              <a:t>Why does voice security need a smarter approach?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450" y="1828800"/>
            <a:ext cx="30289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Voice can be imitated, replayed and manipulated — making binary voice trust unsafe.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1314450"/>
            <a:ext cx="75247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 ExtraBold"/>
              </a:rPr>
              <a:t>THE 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1485900"/>
            <a:ext cx="75247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0F172A"/>
                </a:solidFill>
                <a:latin typeface="Inter SemiBold"/>
              </a:rPr>
              <a:t>Security decision intelligence, not binary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1828800"/>
            <a:ext cx="7524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VoxShield fuses neural, acoustic and forensic evidence, evaluates counter-evidence, and converts signals into an explainable risk decision.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350" y="4638675"/>
            <a:ext cx="2483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334155"/>
                </a:solidFill>
                <a:latin typeface="Inter"/>
              </a:rPr>
              <a:t>MULTI-SIGNAL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7568" y="4638675"/>
            <a:ext cx="2483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334155"/>
                </a:solidFill>
                <a:latin typeface="Inter"/>
              </a:rPr>
              <a:t>Neural + acoustic + forensic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787" y="4638675"/>
            <a:ext cx="2483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334155"/>
                </a:solidFill>
                <a:latin typeface="Inter"/>
              </a:rPr>
              <a:t>REAL-TIME READY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4006" y="4638675"/>
            <a:ext cx="24836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334155"/>
                </a:solidFill>
                <a:latin typeface="Inter"/>
              </a:rPr>
              <a:t>Streaming windows + temporal fusion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5400675"/>
            <a:ext cx="33718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 ExtraBold"/>
              </a:rPr>
              <a:t>SCIENTIFICALLY GATED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1000" y="5572125"/>
            <a:ext cx="33718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0F172A"/>
                </a:solidFill>
                <a:latin typeface="Inter SemiBold"/>
              </a:rPr>
              <a:t>Benchmark claims only when validated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000" y="5915025"/>
            <a:ext cx="33718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1" u="none">
                <a:solidFill>
                  <a:srgbClr val="334155"/>
                </a:solidFill>
                <a:latin typeface="Inter"/>
              </a:rPr>
              <a:t>EXPLAINABLE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3350" y="5400675"/>
            <a:ext cx="7867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 ExtraBold"/>
              </a:rPr>
              <a:t>TARGET USERS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43350" y="5572125"/>
            <a:ext cx="78676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0F172A"/>
                </a:solidFill>
                <a:latin typeface="Inter SemiBold"/>
              </a:rPr>
              <a:t>Where the engine deploys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2524125"/>
            <a:ext cx="95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 SemiBold"/>
              </a:rPr>
              <a:t>1.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2524125"/>
            <a:ext cx="2838450" cy="18941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GB" sz="1050" b="0" i="0" u="none" dirty="0">
                <a:solidFill>
                  <a:srgbClr val="334155"/>
                </a:solidFill>
                <a:latin typeface="Inter SemiBold"/>
              </a:rPr>
              <a:t>SYNTHETIC VOICE</a:t>
            </a:r>
            <a:r>
              <a:rPr sz="1050" b="0" i="0" u="none" dirty="0">
                <a:solidFill>
                  <a:srgbClr val="334155"/>
                </a:solidFill>
                <a:latin typeface="Inter SemiBold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125" y="2800350"/>
            <a:ext cx="1238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 SemiBold"/>
              </a:rPr>
              <a:t>2.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2800350"/>
            <a:ext cx="2838450" cy="189411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GB" sz="1050" b="0" i="0" u="none" dirty="0">
                <a:solidFill>
                  <a:srgbClr val="334155"/>
                </a:solidFill>
                <a:latin typeface="Inter SemiBold"/>
              </a:rPr>
              <a:t>REPLAY ATTACKS</a:t>
            </a:r>
            <a:r>
              <a:rPr sz="1050" b="0" i="0" u="none" dirty="0">
                <a:solidFill>
                  <a:srgbClr val="334155"/>
                </a:solidFill>
                <a:latin typeface="Inter SemiBold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125" y="3076575"/>
            <a:ext cx="1238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Inter SemiBold"/>
              </a:rPr>
              <a:t>3.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950" y="3076575"/>
            <a:ext cx="2838450" cy="189411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n-GB" sz="1050" b="0" i="0" u="none" dirty="0">
                <a:solidFill>
                  <a:srgbClr val="334155"/>
                </a:solidFill>
                <a:latin typeface="Inter SemiBold"/>
              </a:rPr>
              <a:t>OPAQUE DECISIONS</a:t>
            </a:r>
            <a:r>
              <a:rPr sz="1050" b="0" i="0" u="none" dirty="0">
                <a:solidFill>
                  <a:srgbClr val="334155"/>
                </a:solidFill>
                <a:latin typeface="Inter SemiBold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4495800" y="2876550"/>
            <a:ext cx="676275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8200" y="4371975"/>
            <a:ext cx="150018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B82F6"/>
                </a:solidFill>
                <a:latin typeface="Inter"/>
              </a:rPr>
              <a:t>MULTI-SIGNAL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31418" y="4371975"/>
            <a:ext cx="125015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8B5CF6"/>
                </a:solidFill>
                <a:latin typeface="Inter"/>
              </a:rPr>
              <a:t>EXPLAINABLE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4637" y="4371975"/>
            <a:ext cx="134016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4B8A6"/>
                </a:solidFill>
                <a:latin typeface="Inter"/>
              </a:rPr>
              <a:t>REAL-TIME READY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17856" y="4371975"/>
            <a:ext cx="124015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Inter"/>
              </a:rPr>
              <a:t>SCIENTIFICALLY GATED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950" y="2524125"/>
            <a:ext cx="171450" cy="20002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950" y="2800350"/>
            <a:ext cx="200025" cy="2000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2950" y="3076575"/>
            <a:ext cx="200025" cy="20002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019550" y="3276600"/>
            <a:ext cx="952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1E3A8A"/>
                </a:solidFill>
                <a:latin typeface="Inter ExtraBold"/>
              </a:rPr>
              <a:t>VOICE INPUT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0237" y="3276600"/>
            <a:ext cx="952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1E3A8A"/>
                </a:solidFill>
                <a:latin typeface="Inter ExtraBold"/>
              </a:rPr>
              <a:t>VOXSHIELD 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00925" y="3276600"/>
            <a:ext cx="952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1E3A8A"/>
                </a:solidFill>
                <a:latin typeface="Inter ExtraBold"/>
              </a:rPr>
              <a:t>NEURAL + DSP + FORENSICS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91612" y="3276600"/>
            <a:ext cx="952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1E3A8A"/>
                </a:solidFill>
                <a:latin typeface="Inter ExtraBold"/>
              </a:rPr>
              <a:t>EVIDENCE FUSION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91800" y="3276600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1E3A8A"/>
                </a:solidFill>
                <a:latin typeface="Inter ExtraBold"/>
              </a:rPr>
              <a:t>ALLOW / STEP-UP / BLOCK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095750" y="60674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664225" y="60674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232850" y="606742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4095750" y="63627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664225" y="63627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232850" y="63627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10050" y="2609850"/>
            <a:ext cx="571500" cy="5715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00737" y="2609850"/>
            <a:ext cx="571500" cy="5715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82112" y="2609850"/>
            <a:ext cx="571500" cy="57150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972800" y="2609850"/>
            <a:ext cx="571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5905500"/>
            <a:ext cx="1143000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19087"/>
            <a:ext cx="1743075" cy="50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657350"/>
            <a:ext cx="3619500" cy="4029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733550"/>
            <a:ext cx="3619500" cy="5762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452687"/>
            <a:ext cx="3619500" cy="57626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171825"/>
            <a:ext cx="3619500" cy="57626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890962"/>
            <a:ext cx="3619500" cy="57626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4610100"/>
            <a:ext cx="3619500" cy="57626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6250" y="1733550"/>
            <a:ext cx="3619500" cy="533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6250" y="2381250"/>
            <a:ext cx="3619500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6250" y="3028950"/>
            <a:ext cx="3619500" cy="533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86250" y="3676650"/>
            <a:ext cx="3619500" cy="533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86250" y="4324350"/>
            <a:ext cx="3619500" cy="533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15437" y="1866900"/>
            <a:ext cx="15716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01050" y="2466975"/>
            <a:ext cx="3200400" cy="3143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01050" y="4552950"/>
            <a:ext cx="3200400" cy="3143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67775" y="5200650"/>
            <a:ext cx="2266950" cy="2762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4350" y="1878806"/>
            <a:ext cx="285750" cy="285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4350" y="2597943"/>
            <a:ext cx="285750" cy="2857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4350" y="3317081"/>
            <a:ext cx="285750" cy="2857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4350" y="4036218"/>
            <a:ext cx="285750" cy="285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4350" y="4755356"/>
            <a:ext cx="285750" cy="2857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01050" y="3114675"/>
            <a:ext cx="1528762" cy="4572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72687" y="3114675"/>
            <a:ext cx="1528762" cy="4572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01050" y="3905250"/>
            <a:ext cx="1528762" cy="3143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072687" y="3905250"/>
            <a:ext cx="1528762" cy="3143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1000" y="6586537"/>
            <a:ext cx="2181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 SemiBold"/>
              </a:rPr>
              <a:t>@SIH Idea submission- Template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25275" y="6586537"/>
            <a:ext cx="857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4237" y="190500"/>
            <a:ext cx="48482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Inter ExtraBold"/>
              </a:rPr>
              <a:t>TECHNICAL APPROACH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81425" y="714375"/>
            <a:ext cx="41338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From raw voice audio to an evidence-backed security decision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72625" y="238125"/>
            <a:ext cx="819150" cy="6667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534650" y="257175"/>
            <a:ext cx="12763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500" b="0" i="0" u="none">
                <a:solidFill>
                  <a:srgbClr val="334155"/>
                </a:solidFill>
                <a:latin typeface="Inter ExtraBold"/>
              </a:rPr>
              <a:t>SMART INDIA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 ExtraBold"/>
              </a:rPr>
              <a:t> HACKATHON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 ExtraBold"/>
              </a:rPr>
              <a:t>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94719" y="819150"/>
            <a:ext cx="3307260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1000" y="1143000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91B1B"/>
                </a:solidFill>
                <a:latin typeface="Inter ExtraBold"/>
              </a:rPr>
              <a:t>METHODOLOGY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1314450"/>
            <a:ext cx="3619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991B1B"/>
                </a:solidFill>
                <a:latin typeface="Inter SemiBold"/>
              </a:rPr>
              <a:t>End-to-end implementation 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86250" y="1143000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1E3A8A"/>
                </a:solidFill>
                <a:latin typeface="Inter ExtraBold"/>
              </a:rPr>
              <a:t>TECH STACK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86250" y="1314450"/>
            <a:ext cx="3619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1E3A8A"/>
                </a:solidFill>
                <a:latin typeface="Inter SemiBold"/>
              </a:rPr>
              <a:t>Core technologies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1500" y="1143000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10B981"/>
                </a:solidFill>
                <a:latin typeface="Inter ExtraBold"/>
              </a:rPr>
              <a:t>MULTI-LAYER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1500" y="1314450"/>
            <a:ext cx="3619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10B981"/>
                </a:solidFill>
                <a:latin typeface="Inter SemiBold"/>
              </a:rPr>
              <a:t>Independent evidence layers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91725" y="2228850"/>
            <a:ext cx="19050" cy="14287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991725" y="2876550"/>
            <a:ext cx="19050" cy="14287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991725" y="4314825"/>
            <a:ext cx="19050" cy="14287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991725" y="4962525"/>
            <a:ext cx="19050" cy="14287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181225" y="1950243"/>
            <a:ext cx="19050" cy="1428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181225" y="2669381"/>
            <a:ext cx="19050" cy="1428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181225" y="3388518"/>
            <a:ext cx="19050" cy="1428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181225" y="4107656"/>
            <a:ext cx="19050" cy="1428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476750" y="1919287"/>
            <a:ext cx="84236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ExtraBold"/>
              </a:rPr>
              <a:t>PYTHON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19117" y="1847850"/>
            <a:ext cx="243423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Core orchestrator &amp; exception handling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76750" y="2566987"/>
            <a:ext cx="91782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ExtraBold"/>
              </a:rPr>
              <a:t>FASTAPI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94573" y="2495550"/>
            <a:ext cx="235877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REST API · CORS · structured logging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76750" y="3214687"/>
            <a:ext cx="88790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ExtraBold"/>
              </a:rPr>
              <a:t>PYTORCH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64658" y="3143250"/>
            <a:ext cx="238869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2D residual CNN anti-spoofing architecture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76750" y="3862387"/>
            <a:ext cx="94148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ExtraBold"/>
              </a:rPr>
              <a:t>LIBROSA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8236" y="3790950"/>
            <a:ext cx="233511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DSP feature extraction — Log-Mel, LFCC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76750" y="4510087"/>
            <a:ext cx="90517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Inter ExtraBold"/>
              </a:rPr>
              <a:t>SCIPY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81922" y="4438650"/>
            <a:ext cx="237142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Signal integrity · zero-crossing · noise-floor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55906" y="3667125"/>
            <a:ext cx="19050" cy="14287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0827543" y="3667125"/>
            <a:ext cx="19050" cy="14287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2975" y="1866900"/>
            <a:ext cx="1940242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3A8A"/>
                </a:solidFill>
                <a:latin typeface="Inter"/>
              </a:rPr>
              <a:t>API LAYER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2975" y="2019300"/>
            <a:ext cx="18478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FastAPI · Pydantic V2 · 15 MB validated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2975" y="2586037"/>
            <a:ext cx="216027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0B981"/>
                </a:solidFill>
                <a:latin typeface="Inter"/>
              </a:rPr>
              <a:t>PREPROCESS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2975" y="2738437"/>
            <a:ext cx="205740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PCM decode · stereo→mono · 16 kHz norm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42975" y="3305175"/>
            <a:ext cx="156019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3A8A"/>
                </a:solidFill>
                <a:latin typeface="Inter"/>
              </a:rPr>
              <a:t>EXTRACTION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42975" y="3457575"/>
            <a:ext cx="148590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80-ch Log-Mel + 20-ch LFCC features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2975" y="4024312"/>
            <a:ext cx="169021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91B1B"/>
                </a:solidFill>
                <a:latin typeface="Inter"/>
              </a:rPr>
              <a:t>ANALYSIS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42975" y="4176712"/>
            <a:ext cx="160972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PyTorch 2D CNN + Spectral DSP analysis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2975" y="4743450"/>
            <a:ext cx="1740217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Inter"/>
              </a:rPr>
              <a:t>DECISION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2975" y="4895850"/>
            <a:ext cx="16573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Risk Engine aggregates independent signals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13006" y="3371850"/>
            <a:ext cx="7048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0" i="0" u="none">
                <a:solidFill>
                  <a:srgbClr val="1E293B"/>
                </a:solidFill>
                <a:latin typeface="Inter"/>
              </a:rPr>
              <a:t>Log-Mel + LFCC → 2D ResNet anti-spoofing inference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56081" y="3371850"/>
            <a:ext cx="56197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0" i="0" u="none">
                <a:solidFill>
                  <a:srgbClr val="1E293B"/>
                </a:solidFill>
                <a:latin typeface="Inter"/>
              </a:rPr>
              <a:t>(STFT / PCM)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533900"/>
            <a:ext cx="11430000" cy="8143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19087"/>
            <a:ext cx="1743075" cy="50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1675" y="4798218"/>
            <a:ext cx="285750" cy="285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749" y="4798218"/>
            <a:ext cx="285750" cy="285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5599" y="4798218"/>
            <a:ext cx="285750" cy="2857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9448" y="4798218"/>
            <a:ext cx="285750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1914525"/>
            <a:ext cx="1600200" cy="106575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24075" y="1914525"/>
            <a:ext cx="1600200" cy="106575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123158"/>
            <a:ext cx="1600200" cy="922883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24075" y="3123158"/>
            <a:ext cx="1600200" cy="922883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10025" y="1685925"/>
            <a:ext cx="7800975" cy="6762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10025" y="2476500"/>
            <a:ext cx="7800975" cy="6762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10025" y="3267075"/>
            <a:ext cx="7800975" cy="6762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10050" y="1857375"/>
            <a:ext cx="284857" cy="3333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10050" y="2647950"/>
            <a:ext cx="285154" cy="3333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10050" y="3438525"/>
            <a:ext cx="281433" cy="3333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000" y="5681662"/>
            <a:ext cx="114300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1" u="none">
                <a:solidFill>
                  <a:srgbClr val="475569"/>
                </a:solidFill>
                <a:latin typeface="Inter"/>
              </a:rPr>
              <a:t>Feasibility is driven by strict software engineering. Validation enforces scientific honesty.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6586537"/>
            <a:ext cx="2181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 SemiBold"/>
              </a:rPr>
              <a:t>@SIH Idea submission- 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25275" y="6586537"/>
            <a:ext cx="857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6600" y="190500"/>
            <a:ext cx="51435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Inter ExtraBold"/>
              </a:rPr>
              <a:t>FEASIBILITY &amp; VIABILITY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1887" y="714375"/>
            <a:ext cx="43529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Engineered for production, constrained by scientific honesty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72625" y="238125"/>
            <a:ext cx="819150" cy="6667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34650" y="257175"/>
            <a:ext cx="12763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500" b="0" i="0" u="none">
                <a:solidFill>
                  <a:srgbClr val="334155"/>
                </a:solidFill>
                <a:latin typeface="Inter ExtraBold"/>
              </a:rPr>
              <a:t>SMART INDIA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 ExtraBold"/>
              </a:rPr>
              <a:t> HACKATHON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 ExtraBold"/>
              </a:rPr>
              <a:t>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125" y="4869656"/>
            <a:ext cx="11620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FFFFF"/>
                </a:solidFill>
                <a:latin typeface="Inter ExtraBold"/>
              </a:rPr>
              <a:t>VALIDATION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24325" y="4931568"/>
            <a:ext cx="444549" cy="1905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88174" y="4931568"/>
            <a:ext cx="444549" cy="1905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52024" y="4931568"/>
            <a:ext cx="444549" cy="1905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07060" y="819150"/>
            <a:ext cx="3482578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1000" y="1143000"/>
            <a:ext cx="33432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10B981"/>
                </a:solidFill>
                <a:latin typeface="Inter ExtraBold"/>
              </a:rPr>
              <a:t>FEASIBILITY &amp; VIABILITY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1314450"/>
            <a:ext cx="33432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10B981"/>
                </a:solidFill>
                <a:latin typeface="Inter SemiBold"/>
              </a:rPr>
              <a:t>Why the architecture is production-ready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10025" y="1143000"/>
            <a:ext cx="78009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91B1B"/>
                </a:solidFill>
                <a:latin typeface="Inter ExtraBold"/>
              </a:rPr>
              <a:t>RISKS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0025" y="1314450"/>
            <a:ext cx="78009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991B1B"/>
                </a:solidFill>
                <a:latin typeface="Inter SemiBold"/>
              </a:rPr>
              <a:t>What can go wrong — and how we reduce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00300" y="4772025"/>
            <a:ext cx="166020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Engineering Foundation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00300" y="4953000"/>
            <a:ext cx="15811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API · Pipeline · Automated Testing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40374" y="4772025"/>
            <a:ext cx="1370171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Scientific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0374" y="4953000"/>
            <a:ext cx="130492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ASVspoof · Benchmark Gating · ClaimGuard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4224" y="4772025"/>
            <a:ext cx="1370171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Robustness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04224" y="4953000"/>
            <a:ext cx="1304925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Noise · Reverb · Compression · Adversarial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68073" y="4772025"/>
            <a:ext cx="1580197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Inter"/>
              </a:rPr>
              <a:t>Enterprise Deployment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68073" y="4953000"/>
            <a:ext cx="15049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CBD5E1"/>
                </a:solidFill>
                <a:latin typeface="Inter"/>
              </a:rPr>
              <a:t>Real-time streaming · SOC 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2925" y="2076450"/>
            <a:ext cx="134016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3A8A"/>
                </a:solidFill>
                <a:latin typeface="Inter"/>
              </a:rPr>
              <a:t>API-FIRST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2925" y="2266950"/>
            <a:ext cx="1276350" cy="408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334155"/>
                </a:solidFill>
                <a:latin typeface="Inter"/>
              </a:rPr>
              <a:t>REST API integrates into web, mobile or SOC dashboards.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2076450"/>
            <a:ext cx="134016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4B8A6"/>
                </a:solidFill>
                <a:latin typeface="Inter"/>
              </a:rPr>
              <a:t>SECURITY-HARDENED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2409825"/>
            <a:ext cx="1276350" cy="408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334155"/>
                </a:solidFill>
                <a:latin typeface="Inter"/>
              </a:rPr>
              <a:t>Path traversal protection · filename sanitization · request IDs.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2925" y="3285083"/>
            <a:ext cx="134016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B5CF6"/>
                </a:solidFill>
                <a:latin typeface="Inter"/>
              </a:rPr>
              <a:t>REPRODUCIBLE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2925" y="3475583"/>
            <a:ext cx="1276350" cy="408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334155"/>
                </a:solidFill>
                <a:latin typeface="Inter"/>
              </a:rPr>
              <a:t>5 repeated runs → 0.000000 score/feature variance.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0" y="3285083"/>
            <a:ext cx="134016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59E0B"/>
                </a:solidFill>
                <a:latin typeface="Inter"/>
              </a:rPr>
              <a:t>LOW LATENCY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3475583"/>
            <a:ext cx="1276350" cy="4085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334155"/>
                </a:solidFill>
                <a:latin typeface="Inter"/>
              </a:rPr>
              <a:t>41.35 ms baseline · 42.07 ms robustness · 355.04 ms live pipeline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37782" y="1871662"/>
            <a:ext cx="146461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Inter ExtraBold"/>
              </a:rPr>
              <a:t>FALSE SCIENTIFIC CLAIMS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45274" y="1871662"/>
            <a:ext cx="316512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Overpromising accuracy without official dataset benchmarking.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6152" y="1809750"/>
            <a:ext cx="1914822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Inter Black"/>
              </a:rPr>
              <a:t>ClaimGuard ACTIVE — ASVspoof benchmark: NOT YET VALIDATED. No EER or accuracy fabricated.</a:t>
            </a:r>
            <a:r>
              <a:rPr sz="900" b="0" i="0" u="none">
                <a:solidFill>
                  <a:srgbClr val="0F172A"/>
                </a:solidFill>
                <a:latin typeface="Inter SemiBold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9553277" y="1809750"/>
            <a:ext cx="19050" cy="4286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38079" y="2662237"/>
            <a:ext cx="146640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Inter ExtraBold"/>
              </a:rPr>
              <a:t>ADVERSARIAL PERTURBATION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7358" y="2662237"/>
            <a:ext cx="3160811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Models can be fooled by intentional noise or compression artifacts.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3919" y="2600325"/>
            <a:ext cx="1917203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Inter Black"/>
              </a:rPr>
              <a:t>Multi-signal approach (Replay DSP + Temporal Forensics) provides counter-evidence.</a:t>
            </a:r>
            <a:r>
              <a:rPr sz="900" b="0" i="0" u="none">
                <a:solidFill>
                  <a:srgbClr val="0F172A"/>
                </a:solidFill>
                <a:latin typeface="Inter SemiBold"/>
              </a:rPr>
              <a:t/>
            </a:r>
          </a:p>
        </p:txBody>
      </p:sp>
      <p:sp>
        <p:nvSpPr>
          <p:cNvPr id="58" name="Rectangle 57"/>
          <p:cNvSpPr/>
          <p:nvPr/>
        </p:nvSpPr>
        <p:spPr>
          <a:xfrm>
            <a:off x="9551044" y="2600325"/>
            <a:ext cx="19050" cy="4286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634358" y="3529012"/>
            <a:ext cx="144735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F1D1D"/>
                </a:solidFill>
                <a:latin typeface="Inter ExtraBold"/>
              </a:rPr>
              <a:t>LATENCY OVERHEAD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24587" y="3452812"/>
            <a:ext cx="320813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Complex multi-signal analysis may slow real-time authentication.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18476" y="3390900"/>
            <a:ext cx="1892498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0F172A"/>
                </a:solidFill>
                <a:latin typeface="Inter Black"/>
              </a:rPr>
              <a:t>Optimized pipeline: preprocessing + feature extraction stays under 50 ms.</a:t>
            </a:r>
            <a:r>
              <a:rPr sz="900" b="0" i="0" u="none">
                <a:solidFill>
                  <a:srgbClr val="0F172A"/>
                </a:solidFill>
                <a:latin typeface="Inter SemiBold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9575601" y="3390900"/>
            <a:ext cx="19050" cy="428625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4810125"/>
            <a:ext cx="1143000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19087"/>
            <a:ext cx="1743075" cy="50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43000"/>
            <a:ext cx="3682900" cy="3190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420" y="2619375"/>
            <a:ext cx="2671911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420" y="3181350"/>
            <a:ext cx="2671911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420" y="3743325"/>
            <a:ext cx="2671911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400" y="1685925"/>
            <a:ext cx="3683049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400" y="2333625"/>
            <a:ext cx="3683049" cy="533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400" y="2981325"/>
            <a:ext cx="3683049" cy="533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4400" y="3629025"/>
            <a:ext cx="3683049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7950" y="1685925"/>
            <a:ext cx="1770012" cy="800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40838" y="1685925"/>
            <a:ext cx="1770012" cy="800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2628900"/>
            <a:ext cx="1770012" cy="95726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40838" y="2628900"/>
            <a:ext cx="1770012" cy="95726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8225" y="1819275"/>
            <a:ext cx="171598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78225" y="2466975"/>
            <a:ext cx="168919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78225" y="3114675"/>
            <a:ext cx="151209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78225" y="3762375"/>
            <a:ext cx="164157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81000" y="6586537"/>
            <a:ext cx="2181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 SemiBold"/>
              </a:rPr>
              <a:t>@SIH Idea submission- Template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25275" y="6586537"/>
            <a:ext cx="857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 SemiBold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6187" y="190500"/>
            <a:ext cx="41243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Inter ExtraBold"/>
              </a:rPr>
              <a:t>IMPACT &amp; BENEFITS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7612" y="714375"/>
            <a:ext cx="41814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Converting uncertain voice signals into actionable security intelligence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572625" y="238125"/>
            <a:ext cx="819150" cy="6667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34650" y="257175"/>
            <a:ext cx="12763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500" b="0" i="0" u="none">
                <a:solidFill>
                  <a:srgbClr val="334155"/>
                </a:solidFill>
                <a:latin typeface="Inter ExtraBold"/>
              </a:rPr>
              <a:t>SMART INDIA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 ExtraBold"/>
              </a:rPr>
              <a:t> HACKATHON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 ExtraBold"/>
              </a:rPr>
              <a:t>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4050" y="4981575"/>
            <a:ext cx="8763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Inter SemiBold"/>
              </a:rPr>
              <a:t>THE OUTCOME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0850" y="4953000"/>
            <a:ext cx="72771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FFFFF"/>
                </a:solidFill>
                <a:latin typeface="Inter SemiBold"/>
              </a:rPr>
              <a:t>Suspicious audio → Forensic evidence → Explainable risk → Secure decision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75669" y="819150"/>
            <a:ext cx="3345360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52450" y="1314450"/>
            <a:ext cx="3340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Inter ExtraBold"/>
              </a:rPr>
              <a:t>THE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2450" y="1485900"/>
            <a:ext cx="3340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0F172A"/>
                </a:solidFill>
                <a:latin typeface="Inter SemiBold"/>
              </a:rPr>
              <a:t>Actionable Security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2450" y="1828800"/>
            <a:ext cx="3340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34155"/>
                </a:solidFill>
                <a:latin typeface="Inter"/>
              </a:rPr>
              <a:t>VoxShield translates acoustic forensic signals into structured risk decisions — not just a Fake/Real label.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4400" y="1143000"/>
            <a:ext cx="36830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991B1B"/>
                </a:solidFill>
                <a:latin typeface="Inter ExtraBold"/>
              </a:rPr>
              <a:t>BENEFITS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4400" y="1314450"/>
            <a:ext cx="368304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991B1B"/>
                </a:solidFill>
                <a:latin typeface="Inter SemiBold"/>
              </a:rPr>
              <a:t>What changes for the enterprise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7950" y="1143000"/>
            <a:ext cx="36829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1E3A8A"/>
                </a:solidFill>
                <a:latin typeface="Inter ExtraBold"/>
              </a:rPr>
              <a:t>WHERE IT HELPS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7950" y="1314450"/>
            <a:ext cx="3682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 u="none">
                <a:solidFill>
                  <a:srgbClr val="1E3A8A"/>
                </a:solidFill>
                <a:latin typeface="Inter SemiBold"/>
              </a:rPr>
              <a:t>High-value authentication settings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2699" y="1809750"/>
            <a:ext cx="9429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1E3A8A"/>
                </a:solidFill>
                <a:latin typeface="Inter ExtraBold"/>
              </a:rPr>
              <a:t>FORENSIC EXPLAINABILITY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78549" y="1809750"/>
            <a:ext cx="20350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Details the evidence (e.g., high-frequency attenuation, clipping).</a:t>
            </a:r>
            <a:r>
              <a:rPr sz="900" b="0" i="1" u="none">
                <a:solidFill>
                  <a:srgbClr val="475569"/>
                </a:solidFill>
                <a:latin typeface="Inter"/>
              </a:rPr>
              <a:t/>
            </a:r>
            <a:r>
              <a:rPr sz="900" b="0" i="0" u="none">
                <a:solidFill>
                  <a:srgbClr val="475569"/>
                </a:solidFill>
                <a:latin typeface="Inter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90020" y="2457450"/>
            <a:ext cx="84474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1E3A8A"/>
                </a:solidFill>
                <a:latin typeface="Inter ExtraBold"/>
              </a:rPr>
              <a:t>COUNTER-EVIDENCE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77644" y="2457450"/>
            <a:ext cx="213598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Evaluates contradictory signals to prevent false blockages.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2310" y="3105150"/>
            <a:ext cx="75634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1E3A8A"/>
                </a:solidFill>
                <a:latin typeface="Inter ExtraBold"/>
              </a:rPr>
              <a:t>SCIENTIFIC INTEGRITY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1529" y="3105150"/>
            <a:ext cx="224209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Claims are explicitly marked VERIFIED, MEASURED, INFERRED or BLOCKED.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5258" y="3752850"/>
            <a:ext cx="82108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1E3A8A"/>
                </a:solidFill>
                <a:latin typeface="Inter ExtraBold"/>
              </a:rPr>
              <a:t>INTEGRATION READY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49217" y="3752850"/>
            <a:ext cx="216425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75569"/>
                </a:solidFill>
                <a:latin typeface="Inter"/>
              </a:rPr>
              <a:t>Frontend-agnostic. Works via REST API with existing capture devices.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1300" y="2038350"/>
            <a:ext cx="150331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334155"/>
                </a:solidFill>
                <a:latin typeface="Inter"/>
              </a:rPr>
              <a:t>Banking identity verification over phone.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74188" y="2038350"/>
            <a:ext cx="150331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334155"/>
                </a:solidFill>
                <a:latin typeface="Inter"/>
              </a:rPr>
              <a:t>Zero-trust remote employee authentication.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1300" y="2981325"/>
            <a:ext cx="1503312" cy="47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334155"/>
                </a:solidFill>
                <a:latin typeface="Inter"/>
              </a:rPr>
              <a:t>Fraud prevention in government contact centers.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74188" y="2981325"/>
            <a:ext cx="1503312" cy="471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334155"/>
                </a:solidFill>
                <a:latin typeface="Inter"/>
              </a:rPr>
              <a:t>Forensic evidence logs for SOC analysts.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61300" y="183356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70850" y="1819275"/>
            <a:ext cx="53006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91B1B"/>
                </a:solidFill>
                <a:latin typeface="Inter"/>
              </a:rPr>
              <a:t>FINANCE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74188" y="183356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83738" y="1819275"/>
            <a:ext cx="730091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B82F6"/>
                </a:solidFill>
                <a:latin typeface="Inter"/>
              </a:rPr>
              <a:t>ENTERPRISE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61300" y="2776537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70850" y="2762250"/>
            <a:ext cx="106013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0B981"/>
                </a:solidFill>
                <a:latin typeface="Inter"/>
              </a:rPr>
              <a:t>PUBLIC SERVICES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74188" y="2776537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383738" y="2762250"/>
            <a:ext cx="72009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59E0B"/>
                </a:solidFill>
                <a:latin typeface="Inter"/>
              </a:rPr>
              <a:t>SOC TEAMS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7000"/>
            <a:ext cx="12192000" cy="38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19087"/>
            <a:ext cx="1743075" cy="50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43000"/>
            <a:ext cx="3682900" cy="4667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400" y="1143000"/>
            <a:ext cx="3683049" cy="4667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950" y="1143000"/>
            <a:ext cx="3682900" cy="4667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1575" y="2952750"/>
            <a:ext cx="3168699" cy="12144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1781175"/>
            <a:ext cx="10668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175" y="2857500"/>
            <a:ext cx="11239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" y="3933825"/>
            <a:ext cx="8382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1575" y="1781175"/>
            <a:ext cx="17907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5125" y="1781175"/>
            <a:ext cx="952500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5125" y="3095625"/>
            <a:ext cx="128587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5125" y="4238625"/>
            <a:ext cx="1323975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1000" y="6586537"/>
            <a:ext cx="21812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 SemiBold"/>
              </a:rPr>
              <a:t>@SIH Idea submission-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25275" y="6586537"/>
            <a:ext cx="857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FFFFFF"/>
                </a:solidFill>
                <a:latin typeface="Inter SemiBold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4675" y="190500"/>
            <a:ext cx="54673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0" i="0" u="none">
                <a:solidFill>
                  <a:srgbClr val="1E3A8A"/>
                </a:solidFill>
                <a:latin typeface="Inter ExtraBold"/>
              </a:rPr>
              <a:t>RESEARCH &amp;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9037" y="714375"/>
            <a:ext cx="42386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Inter"/>
              </a:rPr>
              <a:t>Evidence base for threat modeling and system architecture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72625" y="238125"/>
            <a:ext cx="819150" cy="6667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34650" y="257175"/>
            <a:ext cx="12763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500" b="0" i="0" u="none">
                <a:solidFill>
                  <a:srgbClr val="334155"/>
                </a:solidFill>
                <a:latin typeface="Inter ExtraBold"/>
              </a:rPr>
              <a:t>SMART INDIA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 ExtraBold"/>
              </a:rPr>
              <a:t> HACKATHON</a:t>
            </a:r>
            <a:r>
              <a:t>
</a:t>
            </a:r>
            <a:r>
              <a:rPr sz="1500" b="0" i="0" u="none">
                <a:solidFill>
                  <a:srgbClr val="334155"/>
                </a:solidFill>
                <a:latin typeface="Inter ExtraBold"/>
              </a:rPr>
              <a:t>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6353175"/>
            <a:ext cx="1371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 sz="900" b="0" i="0" u="none" dirty="0">
              <a:solidFill>
                <a:srgbClr val="EF4444"/>
              </a:solidFill>
              <a:latin typeface="Inter Semi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286000" y="6334125"/>
            <a:ext cx="9182100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 dirty="0" err="1">
                <a:solidFill>
                  <a:srgbClr val="FFFFFF"/>
                </a:solidFill>
                <a:latin typeface="Inter SemiBold"/>
              </a:rPr>
              <a:t>01  THREAT MODELING</a:t>
            </a:r>
            <a:r>
              <a:rPr sz="1125" b="0" i="0" u="none" dirty="0">
                <a:solidFill>
                  <a:srgbClr val="FFFFFF"/>
                </a:solidFill>
                <a:latin typeface="Inter SemiBold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152900" y="819150"/>
            <a:ext cx="3390900" cy="28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8175" y="1400175"/>
            <a:ext cx="3326978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91B1B"/>
                </a:solidFill>
                <a:latin typeface="Inter"/>
              </a:rPr>
              <a:t>01  THREAT MODELING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1575" y="1400175"/>
            <a:ext cx="3327134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6534"/>
                </a:solidFill>
                <a:latin typeface="Inter"/>
              </a:rPr>
              <a:t>02  EVALUATION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125" y="1400175"/>
            <a:ext cx="3326978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3A8A"/>
                </a:solidFill>
                <a:latin typeface="Inter"/>
              </a:rPr>
              <a:t>03  TECHNICAL FOUNDATIONS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" y="2124075"/>
            <a:ext cx="332697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AI Voice Cloning Capabilities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175" y="2324100"/>
            <a:ext cx="31685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334155"/>
                </a:solidFill>
                <a:latin typeface="Inter"/>
              </a:rPr>
              <a:t>TTS and voice conversion frameworks create synthetic speech that challenges zero-trust authentication.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175" y="3200400"/>
            <a:ext cx="332697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Acoustic Replay Attacks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175" y="3400425"/>
            <a:ext cx="31685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334155"/>
                </a:solidFill>
                <a:latin typeface="Inter"/>
              </a:rPr>
              <a:t>Recorded genuine speech replayed via secondary microphones can bypass liveness checks.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" y="4276725"/>
            <a:ext cx="332697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Binary Model Failures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175" y="4476750"/>
            <a:ext cx="31685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334155"/>
                </a:solidFill>
                <a:latin typeface="Inter"/>
              </a:rPr>
              <a:t>Deep learning alone fails explainability mandates without DSP counter-evidence.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1575" y="2124075"/>
            <a:ext cx="3327134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ASVspoof 2019 LA Dataset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1575" y="2324100"/>
            <a:ext cx="3168699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334155"/>
                </a:solidFill>
                <a:latin typeface="Inter"/>
              </a:rPr>
              <a:t>Standard benchmark for logical-access voice spoofing — EER/ROC-AUC evaluation framework.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6350" y="3057525"/>
            <a:ext cx="3107107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91B1B"/>
                </a:solidFill>
                <a:latin typeface="Inter"/>
              </a:rPr>
              <a:t>SCIENTIFIC HONESTY: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6350" y="3238500"/>
            <a:ext cx="2959149" cy="785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ClaimGuard ACTIVE. ASVspoof benchmark evaluation: BLOCKED. No EER or accuracy is claimed.</a:t>
            </a:r>
            <a:r>
              <a:rPr sz="825" b="1" i="0" u="none">
                <a:solidFill>
                  <a:srgbClr val="475569"/>
                </a:solidFill>
                <a:latin typeface="Inter"/>
              </a:rPr>
              <a:t/>
            </a:r>
            <a:r>
              <a:rPr sz="825" b="0" i="0" u="none">
                <a:solidFill>
                  <a:srgbClr val="475569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125" y="2124075"/>
            <a:ext cx="332697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FastAPI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125" y="2371725"/>
            <a:ext cx="1447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2563EB"/>
                </a:solidFill>
                <a:latin typeface="Inter"/>
              </a:rPr>
              <a:t>https://fastapi.tiangolo.com/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5125" y="2562225"/>
            <a:ext cx="31685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334155"/>
                </a:solidFill>
                <a:latin typeface="Inter"/>
              </a:rPr>
              <a:t>REST API backend orchestration with Pydantic V2 validation.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125" y="3438525"/>
            <a:ext cx="332697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PyTorch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5125" y="3686175"/>
            <a:ext cx="10001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2563EB"/>
                </a:solidFill>
                <a:latin typeface="Inter"/>
              </a:rPr>
              <a:t>https://pytorch.org/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5125" y="3876675"/>
            <a:ext cx="31685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334155"/>
                </a:solidFill>
                <a:latin typeface="Inter"/>
              </a:rPr>
              <a:t>Tensor computation and 2D residual CNN acoustic modeling.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125" y="4581525"/>
            <a:ext cx="3326978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Inter"/>
              </a:rPr>
              <a:t>Librosa &amp; SciPy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5125" y="4829175"/>
            <a:ext cx="952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2563EB"/>
                </a:solidFill>
                <a:latin typeface="Inter"/>
              </a:rPr>
              <a:t>https://librosa.org/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5125" y="5019675"/>
            <a:ext cx="31685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334155"/>
                </a:solidFill>
                <a:latin typeface="Inter"/>
              </a:rPr>
              <a:t>Audio DSP: Log-Mel and LFCC feature extraction for anti-spoofing.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946</Words>
  <Application>Microsoft Office PowerPoint</Application>
  <PresentationFormat>Widescreen</PresentationFormat>
  <Paragraphs>171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Inter</vt:lpstr>
      <vt:lpstr>Inter Black</vt:lpstr>
      <vt:lpstr>Inter ExtraBold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23881A0246</cp:lastModifiedBy>
  <cp:revision>2</cp:revision>
  <dcterms:created xsi:type="dcterms:W3CDTF">2013-01-27T09:14:16Z</dcterms:created>
  <dcterms:modified xsi:type="dcterms:W3CDTF">2026-08-25T18:41:07Z</dcterms:modified>
  <cp:category/>
</cp:coreProperties>
</file>